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7448" y="601104"/>
            <a:ext cx="57836" cy="57836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3" name="Shape 1"/>
          <p:cNvSpPr/>
          <p:nvPr/>
        </p:nvSpPr>
        <p:spPr>
          <a:xfrm>
            <a:off x="1216161" y="662703"/>
            <a:ext cx="57836" cy="57836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4" name="Shape 2"/>
          <p:cNvSpPr/>
          <p:nvPr/>
        </p:nvSpPr>
        <p:spPr>
          <a:xfrm>
            <a:off x="1277760" y="811416"/>
            <a:ext cx="57836" cy="57836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5" name="Shape 3"/>
          <p:cNvSpPr/>
          <p:nvPr/>
        </p:nvSpPr>
        <p:spPr>
          <a:xfrm>
            <a:off x="1216161" y="960129"/>
            <a:ext cx="57836" cy="57836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6" name="Shape 4"/>
          <p:cNvSpPr/>
          <p:nvPr/>
        </p:nvSpPr>
        <p:spPr>
          <a:xfrm>
            <a:off x="1067448" y="1021728"/>
            <a:ext cx="57836" cy="57836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7" name="Shape 5"/>
          <p:cNvSpPr/>
          <p:nvPr/>
        </p:nvSpPr>
        <p:spPr>
          <a:xfrm>
            <a:off x="918735" y="960129"/>
            <a:ext cx="57836" cy="57836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8" name="Shape 6"/>
          <p:cNvSpPr/>
          <p:nvPr/>
        </p:nvSpPr>
        <p:spPr>
          <a:xfrm>
            <a:off x="857136" y="811416"/>
            <a:ext cx="57836" cy="57836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9" name="Shape 7"/>
          <p:cNvSpPr/>
          <p:nvPr/>
        </p:nvSpPr>
        <p:spPr>
          <a:xfrm>
            <a:off x="918735" y="662703"/>
            <a:ext cx="57836" cy="57836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0" name="Shape 8"/>
          <p:cNvSpPr/>
          <p:nvPr/>
        </p:nvSpPr>
        <p:spPr>
          <a:xfrm rot="2700000">
            <a:off x="1031169" y="775137"/>
            <a:ext cx="130393" cy="130393"/>
          </a:xfrm>
          <a:prstGeom prst="rect">
            <a:avLst/>
          </a:prstGeom>
          <a:solidFill>
            <a:srgbClr val="F0B429"/>
          </a:solidFill>
          <a:ln w="15875">
            <a:solidFill>
              <a:srgbClr val="F0B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2865" y="566928"/>
            <a:ext cx="2523744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300" kern="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KALLPA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22960" y="1691640"/>
            <a:ext cx="9692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caja que no puede
</a:t>
            </a:r>
            <a:pPr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0B0F16"/>
                </a:solidFill>
                <a:highlight>
                  <a:srgbClr val="F0B42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mentir</a:t>
            </a:r>
            <a:pPr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 </a:t>
            </a:r>
            <a:pPr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0B0F16"/>
                </a:solidFill>
                <a:highlight>
                  <a:srgbClr val="F0B42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robar</a:t>
            </a:r>
            <a:pPr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22960" y="43434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comunitario custodiado por código: la junta de toda la vida, ahora con solvencia auto-verificable y un score de crédito que se computa en la cadena.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61722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Ethereum Lima 2026 · Track Arbitrum · DeFi + AI × Blockchain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465308" y="2007108"/>
            <a:ext cx="192024" cy="19202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44215" y="2288321"/>
            <a:ext cx="192024" cy="19202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5428" y="2967228"/>
            <a:ext cx="192024" cy="19202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8" name="Shape 16"/>
          <p:cNvSpPr/>
          <p:nvPr/>
        </p:nvSpPr>
        <p:spPr>
          <a:xfrm>
            <a:off x="11144215" y="3646135"/>
            <a:ext cx="192024" cy="19202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65308" y="3927348"/>
            <a:ext cx="192024" cy="19202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0" name="Shape 18"/>
          <p:cNvSpPr/>
          <p:nvPr/>
        </p:nvSpPr>
        <p:spPr>
          <a:xfrm>
            <a:off x="9786401" y="3646135"/>
            <a:ext cx="192024" cy="19202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1" name="Shape 19"/>
          <p:cNvSpPr/>
          <p:nvPr/>
        </p:nvSpPr>
        <p:spPr>
          <a:xfrm>
            <a:off x="9505188" y="2967228"/>
            <a:ext cx="192024" cy="19202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2" name="Shape 20"/>
          <p:cNvSpPr/>
          <p:nvPr/>
        </p:nvSpPr>
        <p:spPr>
          <a:xfrm>
            <a:off x="9786401" y="2288321"/>
            <a:ext cx="192024" cy="19202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3" name="Shape 21"/>
          <p:cNvSpPr/>
          <p:nvPr/>
        </p:nvSpPr>
        <p:spPr>
          <a:xfrm rot="2700000">
            <a:off x="10263683" y="2765603"/>
            <a:ext cx="595274" cy="595274"/>
          </a:xfrm>
          <a:prstGeom prst="rect">
            <a:avLst/>
          </a:prstGeom>
          <a:solidFill>
            <a:srgbClr val="F0B429"/>
          </a:solidFill>
          <a:ln w="15875">
            <a:solidFill>
              <a:srgbClr val="F0B42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plata de la gente vive en cajas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nadie puede auditar.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3337560" cy="1965960"/>
          </a:xfrm>
          <a:prstGeom prst="roundRect">
            <a:avLst>
              <a:gd name="adj" fmla="val 4186"/>
            </a:avLst>
          </a:prstGeom>
          <a:solidFill>
            <a:srgbClr val="121A26"/>
          </a:solidFill>
          <a:ln w="9525">
            <a:solidFill>
              <a:srgbClr val="2230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31272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Cooperativas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78992" y="3584448"/>
            <a:ext cx="2852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SBS disolvió 42 COOPAC en un solo año. Los socios nunca pudieron ver las reservas.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2880360"/>
            <a:ext cx="3337560" cy="1965960"/>
          </a:xfrm>
          <a:prstGeom prst="roundRect">
            <a:avLst>
              <a:gd name="adj" fmla="val 4186"/>
            </a:avLst>
          </a:prstGeom>
          <a:solidFill>
            <a:srgbClr val="121A26"/>
          </a:solidFill>
          <a:ln w="9525">
            <a:solidFill>
              <a:srgbClr val="2230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31272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Juntas y panderos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690872" y="3584448"/>
            <a:ext cx="2852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pozo depende de un organizador humano que puede desaparecer con la caja.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880360"/>
            <a:ext cx="3337560" cy="1965960"/>
          </a:xfrm>
          <a:prstGeom prst="roundRect">
            <a:avLst>
              <a:gd name="adj" fmla="val 4186"/>
            </a:avLst>
          </a:prstGeom>
          <a:solidFill>
            <a:srgbClr val="121A26"/>
          </a:solidFill>
          <a:ln w="9525">
            <a:solidFill>
              <a:srgbClr val="2230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31272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desenlace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302752" y="3584448"/>
            <a:ext cx="2852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PrestaPerú: a cada ahorrista le devolvieron S/ 1,400 — sin importar cuánto tenía ahorrado.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falta de ahorro. Es un problema de </a:t>
            </a:r>
            <a:pPr indent="0" marL="0">
              <a:buNone/>
            </a:pPr>
            <a:r>
              <a:rPr lang="en-US" sz="1750" b="1" dirty="0">
                <a:solidFill>
                  <a:srgbClr val="0B0F16"/>
                </a:solidFill>
                <a:highlight>
                  <a:srgbClr val="F0B42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confianza</a:t>
            </a:r>
            <a:pPr indent="0" marL="0">
              <a:buNone/>
            </a:pPr>
            <a:r>
              <a:rPr lang="en-US" sz="175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 hoy la confianza no se puede verificar.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SIGUE SIN RESOLVERSE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salidas actuales.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falla de fondo.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Coopacs reguladas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0" y="290779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supervisión llega cuando el patrimonio ya se esfumó. El seguro cubre apenas S/ 5,000–10,000.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784080" y="2944368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0B0F16"/>
          </a:solidFill>
          <a:ln w="9525">
            <a:solidFill>
              <a:srgbClr val="F0B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0" y="294894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Opacidad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40050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Juntas informales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114800" y="3986784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Funcionan por confianza cara a cara. Cuando falla, no hay recurso legal ni rastro.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784080" y="402336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0B0F16"/>
          </a:solidFill>
          <a:ln w="9525">
            <a:solidFill>
              <a:srgbClr val="F0B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0" y="4027932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Custodio único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508406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de ahorro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114800" y="5065776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Custodian igual que siempre, y tu puntualidad no construye historial en ningún lado.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784080" y="5102352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0B0F16"/>
          </a:solidFill>
          <a:ln w="9525">
            <a:solidFill>
              <a:srgbClr val="F0B4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0" y="5106924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Caja negra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300"/>
              </a:lnSpc>
              <a:buNone/>
            </a:pPr>
            <a:r>
              <a:rPr lang="en-US" sz="37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caja donde la</a:t>
            </a:r>
            <a:endParaRPr lang="en-US" sz="3700" dirty="0"/>
          </a:p>
          <a:p>
            <a:pPr indent="0" marL="0">
              <a:lnSpc>
                <a:spcPts val="4300"/>
              </a:lnSpc>
              <a:buNone/>
            </a:pPr>
            <a:r>
              <a:rPr lang="en-US" sz="37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 es código.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 rot="2700000">
            <a:off x="841248" y="3337560"/>
            <a:ext cx="118872" cy="11887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3200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contrato custodia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88720" y="349300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cuota entra al smart contract. Nadie — ni nosotros — puede desviar el pozo.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 rot="2700000">
            <a:off x="841248" y="4206240"/>
            <a:ext cx="118872" cy="11887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069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Cualquiera audita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88720" y="436168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QR muestra que la caja cuadra: aportado − distribuido = balance real, en Arbitrum. Sin pedir permiso.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rot="2700000">
            <a:off x="841248" y="5074920"/>
            <a:ext cx="118872" cy="11887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937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comportamiento vale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188720" y="52303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score de IA computado dentro del contrato: sube si cumples, baja si fallas.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1325880"/>
            <a:ext cx="4572000" cy="4480560"/>
          </a:xfrm>
          <a:prstGeom prst="roundRect">
            <a:avLst>
              <a:gd name="adj" fmla="val 2449"/>
            </a:avLst>
          </a:prstGeom>
          <a:solidFill>
            <a:srgbClr val="121A26"/>
          </a:solidFill>
          <a:ln w="12700">
            <a:solidFill>
              <a:srgbClr val="2230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JUNTA · LAS EMPRENDEDORAS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0" y="18928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miembras · cuota 50 USDC · ciclo 3 de 8 · 5 de 8 cuotas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59168" y="2295144"/>
            <a:ext cx="237744" cy="23774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7" name="Shape 15"/>
          <p:cNvSpPr/>
          <p:nvPr/>
        </p:nvSpPr>
        <p:spPr>
          <a:xfrm>
            <a:off x="7443216" y="2295144"/>
            <a:ext cx="237744" cy="23774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8" name="Shape 16"/>
          <p:cNvSpPr/>
          <p:nvPr/>
        </p:nvSpPr>
        <p:spPr>
          <a:xfrm>
            <a:off x="7827264" y="2295144"/>
            <a:ext cx="237744" cy="23774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9" name="Shape 17"/>
          <p:cNvSpPr/>
          <p:nvPr/>
        </p:nvSpPr>
        <p:spPr>
          <a:xfrm>
            <a:off x="8211312" y="2295144"/>
            <a:ext cx="237744" cy="23774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0" name="Shape 18"/>
          <p:cNvSpPr/>
          <p:nvPr/>
        </p:nvSpPr>
        <p:spPr>
          <a:xfrm>
            <a:off x="8595360" y="2295144"/>
            <a:ext cx="237744" cy="23774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1" name="Shape 19"/>
          <p:cNvSpPr/>
          <p:nvPr/>
        </p:nvSpPr>
        <p:spPr>
          <a:xfrm>
            <a:off x="8979408" y="2295144"/>
            <a:ext cx="237744" cy="237744"/>
          </a:xfrm>
          <a:prstGeom prst="ellipse">
            <a:avLst/>
          </a:prstGeom>
          <a:solidFill>
            <a:srgbClr val="3A4657"/>
          </a:solidFill>
          <a:ln/>
        </p:spPr>
      </p:sp>
      <p:sp>
        <p:nvSpPr>
          <p:cNvPr id="22" name="Shape 20"/>
          <p:cNvSpPr/>
          <p:nvPr/>
        </p:nvSpPr>
        <p:spPr>
          <a:xfrm>
            <a:off x="9363456" y="2295144"/>
            <a:ext cx="237744" cy="237744"/>
          </a:xfrm>
          <a:prstGeom prst="ellipse">
            <a:avLst/>
          </a:prstGeom>
          <a:solidFill>
            <a:srgbClr val="3A4657"/>
          </a:solidFill>
          <a:ln/>
        </p:spPr>
      </p:sp>
      <p:sp>
        <p:nvSpPr>
          <p:cNvPr id="23" name="Shape 21"/>
          <p:cNvSpPr/>
          <p:nvPr/>
        </p:nvSpPr>
        <p:spPr>
          <a:xfrm>
            <a:off x="9747504" y="2295144"/>
            <a:ext cx="237744" cy="237744"/>
          </a:xfrm>
          <a:prstGeom prst="ellipse">
            <a:avLst/>
          </a:prstGeom>
          <a:solidFill>
            <a:srgbClr val="3A4657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28620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Aportado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72600" y="286207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4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1,050 USDC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04088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72600" y="3429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4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800 USDC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040880" y="39959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real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72600" y="39959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4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 USDC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040880" y="4727448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8230F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478231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CUADRA — aportado − distribuido = balance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pasos. Sin bancos, sin papeles.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98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Únete a tu junta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Deposita tu cuota en USDC. El contrato custodia el pozo y paga los turnos en orden. Nadie toca la caja.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0" y="2286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98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480560" y="3200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 cuando quieras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480560" y="379476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Escanea el QR de tu junta: aportado − distribuido = balance real, verificado en Arbitrum al instante.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0" y="2286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98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138160" y="3200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puntualidad vale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138160" y="379476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modelo de IA computa tu score dentro del contrato y te abre microcrédito real, sin trámite.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INNOVACIÓN TECNOLÓGICA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score no lo calcula un servidor.
</a:t>
            </a:r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F16"/>
                </a:solidFill>
                <a:highlight>
                  <a:srgbClr val="F0B42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Lo calcula Arbitrum.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5120640" cy="1298448"/>
          </a:xfrm>
          <a:prstGeom prst="roundRect">
            <a:avLst>
              <a:gd name="adj" fmla="val 6338"/>
            </a:avLst>
          </a:prstGeom>
          <a:solidFill>
            <a:srgbClr val="121A26"/>
          </a:solidFill>
          <a:ln w="9525">
            <a:solidFill>
              <a:srgbClr val="2230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999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on-chain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886200" y="30358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Stylus · Rust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de ML corre dentro del contrato, en aritmética de punto fijo. Imposible en Solidity.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834640"/>
            <a:ext cx="5120640" cy="1298448"/>
          </a:xfrm>
          <a:prstGeom prst="roundRect">
            <a:avLst>
              <a:gd name="adj" fmla="val 6338"/>
            </a:avLst>
          </a:prstGeom>
          <a:solidFill>
            <a:srgbClr val="121A26"/>
          </a:solidFill>
          <a:ln w="9525">
            <a:solidFill>
              <a:srgbClr val="2230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999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 verificable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326880" y="30358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 · on-chain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37960" y="3383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socio comprueba que la caja cuadra —aportado − distribuido = balance— desde su celular, sin confiar en auditores.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315968"/>
            <a:ext cx="5120640" cy="1298448"/>
          </a:xfrm>
          <a:prstGeom prst="roundRect">
            <a:avLst>
              <a:gd name="adj" fmla="val 6338"/>
            </a:avLst>
          </a:prstGeom>
          <a:solidFill>
            <a:srgbClr val="121A26"/>
          </a:solidFill>
          <a:ln w="9525">
            <a:solidFill>
              <a:srgbClr val="2230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 portable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886200" y="45171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97280" y="48646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score se emite como attestation con el hash del modelo: cualquier protocolo puede leerla.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4315968"/>
            <a:ext cx="5120640" cy="1298448"/>
          </a:xfrm>
          <a:prstGeom prst="roundRect">
            <a:avLst>
              <a:gd name="adj" fmla="val 6338"/>
            </a:avLst>
          </a:prstGeom>
          <a:solidFill>
            <a:srgbClr val="121A26"/>
          </a:solidFill>
          <a:ln w="9525">
            <a:solidFill>
              <a:srgbClr val="2230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Custodia programática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326880" y="45171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Arbitrum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37960" y="48646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pozo vive en el contrato. Las reglas de turno no tienen dueño con llave.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9893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modelo corre EN cadena por [X] gas — medido en record_score, no citado (Stylus ≈ 10x más barato que EVM).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REPUTACIÓN BIDIRECCIONAL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score que solo premia se puede farmear.
</a:t>
            </a:r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0B0F16"/>
                </a:solidFill>
                <a:highlight>
                  <a:srgbClr val="F0B42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El nuestro también castiga.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121A26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30723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CUMPLES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5568" y="3383280"/>
            <a:ext cx="4535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 puntuales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15568" y="3749040"/>
            <a:ext cx="4535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Pool amplía tu línea recomputando tu historial en vivo al prestar — automático, sin comité.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15568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628 → 781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566160" y="4663440"/>
            <a:ext cx="2084832" cy="310896"/>
          </a:xfrm>
          <a:prstGeom prst="roundRect">
            <a:avLst>
              <a:gd name="adj" fmla="val 17647"/>
            </a:avLst>
          </a:prstGeom>
          <a:solidFill>
            <a:srgbClr val="0B0F16"/>
          </a:solidFill>
          <a:ln w="9525">
            <a:solidFill>
              <a:srgbClr val="F0B4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4668012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línea 120 → 200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283464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121A26"/>
          </a:solidFill>
          <a:ln w="12700">
            <a:solidFill>
              <a:srgbClr val="2230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30723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FALLAS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3383280"/>
            <a:ext cx="4535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Cuota vencida · disputa perdida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56248" y="3749040"/>
            <a:ext cx="4535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nada que firmar para castigarte: el default aparece solo con el reloj y el Pool cierra tu crédito al recomputar.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56248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781 → 355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9006840" y="4663440"/>
            <a:ext cx="2084832" cy="310896"/>
          </a:xfrm>
          <a:prstGeom prst="roundRect">
            <a:avLst>
              <a:gd name="adj" fmla="val 17647"/>
            </a:avLst>
          </a:prstGeom>
          <a:solidFill>
            <a:srgbClr val="0B0F16"/>
          </a:solidFill>
          <a:ln w="9525">
            <a:solidFill>
              <a:srgbClr val="8A94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4668012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sin crédito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 un sistema que espera tu firma, el moroso simplemente no firma y nunca lo alcanzan. Acá el tiempo firma por él: cada pago y cada default viven en la junta, y el score se recomputa de ahí en cada préstamo.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piezas, cero servidores de confianza.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2487168" cy="1920240"/>
          </a:xfrm>
          <a:prstGeom prst="roundRect">
            <a:avLst>
              <a:gd name="adj" fmla="val 4762"/>
            </a:avLst>
          </a:prstGeom>
          <a:solidFill>
            <a:srgbClr val="121A26"/>
          </a:solidFill>
          <a:ln w="9525">
            <a:solidFill>
              <a:srgbClr val="2230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254203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Kallpa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24128" y="288950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Scaffold-Stylus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" y="3218688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simple, la wallet es la cuenta. Sin backend ni base de datos.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73552" y="303580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84448" y="2331720"/>
            <a:ext cx="2487168" cy="1920240"/>
          </a:xfrm>
          <a:prstGeom prst="roundRect">
            <a:avLst>
              <a:gd name="adj" fmla="val 4762"/>
            </a:avLst>
          </a:prstGeom>
          <a:solidFill>
            <a:srgbClr val="121A26"/>
          </a:solidFill>
          <a:ln w="9525">
            <a:solidFill>
              <a:srgbClr val="2230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85616" y="254203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Junta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785616" y="288950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custodia · turnos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85616" y="3218688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el pozo y paga turnos en orden. No existe retiro de admin.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35040" y="303580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45936" y="2331720"/>
            <a:ext cx="2487168" cy="1920240"/>
          </a:xfrm>
          <a:prstGeom prst="roundRect">
            <a:avLst>
              <a:gd name="adj" fmla="val 4762"/>
            </a:avLst>
          </a:prstGeom>
          <a:solidFill>
            <a:srgbClr val="121A26"/>
          </a:solidFill>
          <a:ln w="9525">
            <a:solidFill>
              <a:srgbClr val="2230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254203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Score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47104" y="288950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Stylus · Rust · ML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47104" y="3218688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Inferencia del modelo en punto fijo, dentro del contrato.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96528" y="303580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07424" y="2331720"/>
            <a:ext cx="2487168" cy="1920240"/>
          </a:xfrm>
          <a:prstGeom prst="roundRect">
            <a:avLst>
              <a:gd name="adj" fmla="val 4762"/>
            </a:avLst>
          </a:prstGeom>
          <a:solidFill>
            <a:srgbClr val="121A26"/>
          </a:solidFill>
          <a:ln w="9525">
            <a:solidFill>
              <a:srgbClr val="2230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08592" y="254203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 + Pool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308592" y="288950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attestation · crédito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308592" y="3218688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score se attesta (copia que viaja); el Pool presta o suspende recomputando el score en vivo.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4663440"/>
            <a:ext cx="10771632" cy="868680"/>
          </a:xfrm>
          <a:prstGeom prst="roundRect">
            <a:avLst>
              <a:gd name="adj" fmla="val 10526"/>
            </a:avLst>
          </a:prstGeom>
          <a:solidFill>
            <a:srgbClr val="0B0F16"/>
          </a:solidFill>
          <a:ln w="12700">
            <a:solidFill>
              <a:srgbClr val="C98F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477316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pública por QR: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página lee aportado, distribuido y balance del contrato y los cruza contra el saldo real del token — sin backend, sin nadie que pueda maquillar el número.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5897880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0B0F16"/>
          </a:solidFill>
          <a:ln w="9525">
            <a:solidFill>
              <a:srgbClr val="12AA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902452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Arbitrum Sepolia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88920" y="5897880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0B0F16"/>
          </a:solidFill>
          <a:ln w="9525">
            <a:solidFill>
              <a:srgbClr val="F0B42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5902452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USDC de prueba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589788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0B0F16"/>
          </a:solidFill>
          <a:ln w="9525">
            <a:solidFill>
              <a:srgbClr val="F0B42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590245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 abierto en GitHub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MOMENTO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300"/>
              </a:lnSpc>
              <a:buNone/>
            </a:pPr>
            <a:r>
              <a:rPr lang="en-US" sz="37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 la caja</a:t>
            </a:r>
            <a:endParaRPr lang="en-US" sz="3700" dirty="0"/>
          </a:p>
          <a:p>
            <a:pPr indent="0" marL="0">
              <a:lnSpc>
                <a:spcPts val="4300"/>
              </a:lnSpc>
              <a:buNone/>
            </a:pPr>
            <a:r>
              <a:rPr lang="en-US" sz="37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tu celular.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María lleva su junta completa — 8 ciclos puntuales. Un clic: record_score computa su score — 781 — en Stylus (tx en Arbiscan) y el Pool, recomputando su historial vivo, le presta 200 USDC. Sin ventanilla, sin fiador, sin caja negra.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04164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reverso, sin que nadie mueva un dedo: en la junta "mala" una cuota venció, el default apareció solo con el reloj, y el crédito se cerró.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82803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en vivo: el jurado escanea el QR y ve CUADRA. Mandamos 100 USDC sueltos al contrato → el QR salta a NO CUADRA. La caja se autodenuncia.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8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kallpa.vercel.app/auditar · Arbitrum Sepolia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95160" y="1097280"/>
            <a:ext cx="3346704" cy="3666744"/>
          </a:xfrm>
          <a:prstGeom prst="roundRect">
            <a:avLst>
              <a:gd name="adj" fmla="val 3279"/>
            </a:avLst>
          </a:prstGeom>
          <a:solidFill>
            <a:srgbClr val="F4F2EC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141732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0" name="Shape 8"/>
          <p:cNvSpPr/>
          <p:nvPr/>
        </p:nvSpPr>
        <p:spPr>
          <a:xfrm>
            <a:off x="7484364" y="141732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1" name="Shape 9"/>
          <p:cNvSpPr/>
          <p:nvPr/>
        </p:nvSpPr>
        <p:spPr>
          <a:xfrm>
            <a:off x="7653528" y="141732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2" name="Shape 10"/>
          <p:cNvSpPr/>
          <p:nvPr/>
        </p:nvSpPr>
        <p:spPr>
          <a:xfrm>
            <a:off x="7822692" y="141732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3" name="Shape 11"/>
          <p:cNvSpPr/>
          <p:nvPr/>
        </p:nvSpPr>
        <p:spPr>
          <a:xfrm>
            <a:off x="7991856" y="141732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4" name="Shape 12"/>
          <p:cNvSpPr/>
          <p:nvPr/>
        </p:nvSpPr>
        <p:spPr>
          <a:xfrm>
            <a:off x="8330184" y="141732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5" name="Shape 13"/>
          <p:cNvSpPr/>
          <p:nvPr/>
        </p:nvSpPr>
        <p:spPr>
          <a:xfrm>
            <a:off x="8668512" y="141732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6" name="Shape 14"/>
          <p:cNvSpPr/>
          <p:nvPr/>
        </p:nvSpPr>
        <p:spPr>
          <a:xfrm>
            <a:off x="9176004" y="141732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7" name="Shape 15"/>
          <p:cNvSpPr/>
          <p:nvPr/>
        </p:nvSpPr>
        <p:spPr>
          <a:xfrm>
            <a:off x="9345168" y="141732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8" name="Shape 16"/>
          <p:cNvSpPr/>
          <p:nvPr/>
        </p:nvSpPr>
        <p:spPr>
          <a:xfrm>
            <a:off x="9514332" y="141732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9" name="Shape 17"/>
          <p:cNvSpPr/>
          <p:nvPr/>
        </p:nvSpPr>
        <p:spPr>
          <a:xfrm>
            <a:off x="9683496" y="141732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20" name="Shape 18"/>
          <p:cNvSpPr/>
          <p:nvPr/>
        </p:nvSpPr>
        <p:spPr>
          <a:xfrm>
            <a:off x="9852660" y="141732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158648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22" name="Shape 20"/>
          <p:cNvSpPr/>
          <p:nvPr/>
        </p:nvSpPr>
        <p:spPr>
          <a:xfrm>
            <a:off x="7991856" y="158648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23" name="Shape 21"/>
          <p:cNvSpPr/>
          <p:nvPr/>
        </p:nvSpPr>
        <p:spPr>
          <a:xfrm>
            <a:off x="8330184" y="158648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24" name="Shape 22"/>
          <p:cNvSpPr/>
          <p:nvPr/>
        </p:nvSpPr>
        <p:spPr>
          <a:xfrm>
            <a:off x="8499348" y="158648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25" name="Shape 23"/>
          <p:cNvSpPr/>
          <p:nvPr/>
        </p:nvSpPr>
        <p:spPr>
          <a:xfrm>
            <a:off x="8837676" y="158648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26" name="Shape 24"/>
          <p:cNvSpPr/>
          <p:nvPr/>
        </p:nvSpPr>
        <p:spPr>
          <a:xfrm>
            <a:off x="9176004" y="158648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27" name="Shape 25"/>
          <p:cNvSpPr/>
          <p:nvPr/>
        </p:nvSpPr>
        <p:spPr>
          <a:xfrm>
            <a:off x="9852660" y="158648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0" y="175564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29" name="Shape 27"/>
          <p:cNvSpPr/>
          <p:nvPr/>
        </p:nvSpPr>
        <p:spPr>
          <a:xfrm>
            <a:off x="7653528" y="175564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30" name="Shape 28"/>
          <p:cNvSpPr/>
          <p:nvPr/>
        </p:nvSpPr>
        <p:spPr>
          <a:xfrm>
            <a:off x="7822692" y="175564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31" name="Shape 29"/>
          <p:cNvSpPr/>
          <p:nvPr/>
        </p:nvSpPr>
        <p:spPr>
          <a:xfrm>
            <a:off x="7991856" y="175564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32" name="Shape 30"/>
          <p:cNvSpPr/>
          <p:nvPr/>
        </p:nvSpPr>
        <p:spPr>
          <a:xfrm>
            <a:off x="8330184" y="175564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33" name="Shape 31"/>
          <p:cNvSpPr/>
          <p:nvPr/>
        </p:nvSpPr>
        <p:spPr>
          <a:xfrm>
            <a:off x="8668512" y="175564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34" name="Shape 32"/>
          <p:cNvSpPr/>
          <p:nvPr/>
        </p:nvSpPr>
        <p:spPr>
          <a:xfrm>
            <a:off x="9006840" y="175564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35" name="Shape 33"/>
          <p:cNvSpPr/>
          <p:nvPr/>
        </p:nvSpPr>
        <p:spPr>
          <a:xfrm>
            <a:off x="9176004" y="175564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36" name="Shape 34"/>
          <p:cNvSpPr/>
          <p:nvPr/>
        </p:nvSpPr>
        <p:spPr>
          <a:xfrm>
            <a:off x="9514332" y="175564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37" name="Shape 35"/>
          <p:cNvSpPr/>
          <p:nvPr/>
        </p:nvSpPr>
        <p:spPr>
          <a:xfrm>
            <a:off x="9683496" y="175564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38" name="Shape 36"/>
          <p:cNvSpPr/>
          <p:nvPr/>
        </p:nvSpPr>
        <p:spPr>
          <a:xfrm>
            <a:off x="9852660" y="175564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0" y="192481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40" name="Shape 38"/>
          <p:cNvSpPr/>
          <p:nvPr/>
        </p:nvSpPr>
        <p:spPr>
          <a:xfrm>
            <a:off x="7653528" y="192481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41" name="Shape 39"/>
          <p:cNvSpPr/>
          <p:nvPr/>
        </p:nvSpPr>
        <p:spPr>
          <a:xfrm>
            <a:off x="7822692" y="192481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42" name="Shape 40"/>
          <p:cNvSpPr/>
          <p:nvPr/>
        </p:nvSpPr>
        <p:spPr>
          <a:xfrm>
            <a:off x="7991856" y="192481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43" name="Shape 41"/>
          <p:cNvSpPr/>
          <p:nvPr/>
        </p:nvSpPr>
        <p:spPr>
          <a:xfrm>
            <a:off x="8499348" y="192481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44" name="Shape 42"/>
          <p:cNvSpPr/>
          <p:nvPr/>
        </p:nvSpPr>
        <p:spPr>
          <a:xfrm>
            <a:off x="8668512" y="192481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45" name="Shape 43"/>
          <p:cNvSpPr/>
          <p:nvPr/>
        </p:nvSpPr>
        <p:spPr>
          <a:xfrm>
            <a:off x="9006840" y="192481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46" name="Shape 44"/>
          <p:cNvSpPr/>
          <p:nvPr/>
        </p:nvSpPr>
        <p:spPr>
          <a:xfrm>
            <a:off x="9176004" y="192481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47" name="Shape 45"/>
          <p:cNvSpPr/>
          <p:nvPr/>
        </p:nvSpPr>
        <p:spPr>
          <a:xfrm>
            <a:off x="9514332" y="192481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48" name="Shape 46"/>
          <p:cNvSpPr/>
          <p:nvPr/>
        </p:nvSpPr>
        <p:spPr>
          <a:xfrm>
            <a:off x="9683496" y="192481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49" name="Shape 47"/>
          <p:cNvSpPr/>
          <p:nvPr/>
        </p:nvSpPr>
        <p:spPr>
          <a:xfrm>
            <a:off x="9852660" y="192481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50" name="Shape 48"/>
          <p:cNvSpPr/>
          <p:nvPr/>
        </p:nvSpPr>
        <p:spPr>
          <a:xfrm>
            <a:off x="7315200" y="209397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51" name="Shape 49"/>
          <p:cNvSpPr/>
          <p:nvPr/>
        </p:nvSpPr>
        <p:spPr>
          <a:xfrm>
            <a:off x="7991856" y="209397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52" name="Shape 50"/>
          <p:cNvSpPr/>
          <p:nvPr/>
        </p:nvSpPr>
        <p:spPr>
          <a:xfrm>
            <a:off x="8330184" y="209397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53" name="Shape 51"/>
          <p:cNvSpPr/>
          <p:nvPr/>
        </p:nvSpPr>
        <p:spPr>
          <a:xfrm>
            <a:off x="8668512" y="209397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54" name="Shape 52"/>
          <p:cNvSpPr/>
          <p:nvPr/>
        </p:nvSpPr>
        <p:spPr>
          <a:xfrm>
            <a:off x="8837676" y="209397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55" name="Shape 53"/>
          <p:cNvSpPr/>
          <p:nvPr/>
        </p:nvSpPr>
        <p:spPr>
          <a:xfrm>
            <a:off x="9176004" y="209397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56" name="Shape 54"/>
          <p:cNvSpPr/>
          <p:nvPr/>
        </p:nvSpPr>
        <p:spPr>
          <a:xfrm>
            <a:off x="9852660" y="209397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57" name="Shape 55"/>
          <p:cNvSpPr/>
          <p:nvPr/>
        </p:nvSpPr>
        <p:spPr>
          <a:xfrm>
            <a:off x="7315200" y="226314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58" name="Shape 56"/>
          <p:cNvSpPr/>
          <p:nvPr/>
        </p:nvSpPr>
        <p:spPr>
          <a:xfrm>
            <a:off x="7484364" y="226314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59" name="Shape 57"/>
          <p:cNvSpPr/>
          <p:nvPr/>
        </p:nvSpPr>
        <p:spPr>
          <a:xfrm>
            <a:off x="7653528" y="226314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60" name="Shape 58"/>
          <p:cNvSpPr/>
          <p:nvPr/>
        </p:nvSpPr>
        <p:spPr>
          <a:xfrm>
            <a:off x="7822692" y="226314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61" name="Shape 59"/>
          <p:cNvSpPr/>
          <p:nvPr/>
        </p:nvSpPr>
        <p:spPr>
          <a:xfrm>
            <a:off x="7991856" y="226314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62" name="Shape 60"/>
          <p:cNvSpPr/>
          <p:nvPr/>
        </p:nvSpPr>
        <p:spPr>
          <a:xfrm>
            <a:off x="8330184" y="226314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63" name="Shape 61"/>
          <p:cNvSpPr/>
          <p:nvPr/>
        </p:nvSpPr>
        <p:spPr>
          <a:xfrm>
            <a:off x="8668512" y="226314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64" name="Shape 62"/>
          <p:cNvSpPr/>
          <p:nvPr/>
        </p:nvSpPr>
        <p:spPr>
          <a:xfrm>
            <a:off x="9006840" y="226314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65" name="Shape 63"/>
          <p:cNvSpPr/>
          <p:nvPr/>
        </p:nvSpPr>
        <p:spPr>
          <a:xfrm>
            <a:off x="9176004" y="226314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66" name="Shape 64"/>
          <p:cNvSpPr/>
          <p:nvPr/>
        </p:nvSpPr>
        <p:spPr>
          <a:xfrm>
            <a:off x="9345168" y="226314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67" name="Shape 65"/>
          <p:cNvSpPr/>
          <p:nvPr/>
        </p:nvSpPr>
        <p:spPr>
          <a:xfrm>
            <a:off x="9514332" y="226314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68" name="Shape 66"/>
          <p:cNvSpPr/>
          <p:nvPr/>
        </p:nvSpPr>
        <p:spPr>
          <a:xfrm>
            <a:off x="9683496" y="226314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69" name="Shape 67"/>
          <p:cNvSpPr/>
          <p:nvPr/>
        </p:nvSpPr>
        <p:spPr>
          <a:xfrm>
            <a:off x="9852660" y="226314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70" name="Shape 68"/>
          <p:cNvSpPr/>
          <p:nvPr/>
        </p:nvSpPr>
        <p:spPr>
          <a:xfrm>
            <a:off x="8499348" y="243230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71" name="Shape 69"/>
          <p:cNvSpPr/>
          <p:nvPr/>
        </p:nvSpPr>
        <p:spPr>
          <a:xfrm>
            <a:off x="8668512" y="243230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72" name="Shape 70"/>
          <p:cNvSpPr/>
          <p:nvPr/>
        </p:nvSpPr>
        <p:spPr>
          <a:xfrm>
            <a:off x="7315200" y="260146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73" name="Shape 71"/>
          <p:cNvSpPr/>
          <p:nvPr/>
        </p:nvSpPr>
        <p:spPr>
          <a:xfrm>
            <a:off x="7653528" y="260146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74" name="Shape 72"/>
          <p:cNvSpPr/>
          <p:nvPr/>
        </p:nvSpPr>
        <p:spPr>
          <a:xfrm>
            <a:off x="7991856" y="260146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75" name="Shape 73"/>
          <p:cNvSpPr/>
          <p:nvPr/>
        </p:nvSpPr>
        <p:spPr>
          <a:xfrm>
            <a:off x="8161020" y="260146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76" name="Shape 74"/>
          <p:cNvSpPr/>
          <p:nvPr/>
        </p:nvSpPr>
        <p:spPr>
          <a:xfrm>
            <a:off x="8330184" y="260146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77" name="Shape 75"/>
          <p:cNvSpPr/>
          <p:nvPr/>
        </p:nvSpPr>
        <p:spPr>
          <a:xfrm>
            <a:off x="8668512" y="260146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78" name="Shape 76"/>
          <p:cNvSpPr/>
          <p:nvPr/>
        </p:nvSpPr>
        <p:spPr>
          <a:xfrm>
            <a:off x="8837676" y="260146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79" name="Shape 77"/>
          <p:cNvSpPr/>
          <p:nvPr/>
        </p:nvSpPr>
        <p:spPr>
          <a:xfrm>
            <a:off x="9006840" y="260146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80" name="Shape 78"/>
          <p:cNvSpPr/>
          <p:nvPr/>
        </p:nvSpPr>
        <p:spPr>
          <a:xfrm>
            <a:off x="9345168" y="260146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81" name="Shape 79"/>
          <p:cNvSpPr/>
          <p:nvPr/>
        </p:nvSpPr>
        <p:spPr>
          <a:xfrm>
            <a:off x="9514332" y="260146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82" name="Shape 80"/>
          <p:cNvSpPr/>
          <p:nvPr/>
        </p:nvSpPr>
        <p:spPr>
          <a:xfrm>
            <a:off x="9852660" y="260146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83" name="Shape 81"/>
          <p:cNvSpPr/>
          <p:nvPr/>
        </p:nvSpPr>
        <p:spPr>
          <a:xfrm>
            <a:off x="7484364" y="277063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84" name="Shape 82"/>
          <p:cNvSpPr/>
          <p:nvPr/>
        </p:nvSpPr>
        <p:spPr>
          <a:xfrm>
            <a:off x="7653528" y="277063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85" name="Shape 83"/>
          <p:cNvSpPr/>
          <p:nvPr/>
        </p:nvSpPr>
        <p:spPr>
          <a:xfrm>
            <a:off x="8161020" y="277063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86" name="Shape 84"/>
          <p:cNvSpPr/>
          <p:nvPr/>
        </p:nvSpPr>
        <p:spPr>
          <a:xfrm>
            <a:off x="8499348" y="277063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87" name="Shape 85"/>
          <p:cNvSpPr/>
          <p:nvPr/>
        </p:nvSpPr>
        <p:spPr>
          <a:xfrm>
            <a:off x="8837676" y="277063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88" name="Shape 86"/>
          <p:cNvSpPr/>
          <p:nvPr/>
        </p:nvSpPr>
        <p:spPr>
          <a:xfrm>
            <a:off x="9006840" y="277063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89" name="Shape 87"/>
          <p:cNvSpPr/>
          <p:nvPr/>
        </p:nvSpPr>
        <p:spPr>
          <a:xfrm>
            <a:off x="9514332" y="277063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90" name="Shape 88"/>
          <p:cNvSpPr/>
          <p:nvPr/>
        </p:nvSpPr>
        <p:spPr>
          <a:xfrm>
            <a:off x="9683496" y="277063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91" name="Shape 89"/>
          <p:cNvSpPr/>
          <p:nvPr/>
        </p:nvSpPr>
        <p:spPr>
          <a:xfrm>
            <a:off x="7315200" y="293979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92" name="Shape 90"/>
          <p:cNvSpPr/>
          <p:nvPr/>
        </p:nvSpPr>
        <p:spPr>
          <a:xfrm>
            <a:off x="7653528" y="293979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93" name="Shape 91"/>
          <p:cNvSpPr/>
          <p:nvPr/>
        </p:nvSpPr>
        <p:spPr>
          <a:xfrm>
            <a:off x="7822692" y="293979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94" name="Shape 92"/>
          <p:cNvSpPr/>
          <p:nvPr/>
        </p:nvSpPr>
        <p:spPr>
          <a:xfrm>
            <a:off x="7991856" y="293979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95" name="Shape 93"/>
          <p:cNvSpPr/>
          <p:nvPr/>
        </p:nvSpPr>
        <p:spPr>
          <a:xfrm>
            <a:off x="8330184" y="293979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96" name="Shape 94"/>
          <p:cNvSpPr/>
          <p:nvPr/>
        </p:nvSpPr>
        <p:spPr>
          <a:xfrm>
            <a:off x="8499348" y="293979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97" name="Shape 95"/>
          <p:cNvSpPr/>
          <p:nvPr/>
        </p:nvSpPr>
        <p:spPr>
          <a:xfrm>
            <a:off x="8837676" y="293979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98" name="Shape 96"/>
          <p:cNvSpPr/>
          <p:nvPr/>
        </p:nvSpPr>
        <p:spPr>
          <a:xfrm>
            <a:off x="9176004" y="293979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99" name="Shape 97"/>
          <p:cNvSpPr/>
          <p:nvPr/>
        </p:nvSpPr>
        <p:spPr>
          <a:xfrm>
            <a:off x="9345168" y="293979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00" name="Shape 98"/>
          <p:cNvSpPr/>
          <p:nvPr/>
        </p:nvSpPr>
        <p:spPr>
          <a:xfrm>
            <a:off x="9683496" y="293979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01" name="Shape 99"/>
          <p:cNvSpPr/>
          <p:nvPr/>
        </p:nvSpPr>
        <p:spPr>
          <a:xfrm>
            <a:off x="9852660" y="293979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02" name="Shape 100"/>
          <p:cNvSpPr/>
          <p:nvPr/>
        </p:nvSpPr>
        <p:spPr>
          <a:xfrm>
            <a:off x="8330184" y="310896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668512" y="310896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006840" y="310896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05" name="Shape 103"/>
          <p:cNvSpPr/>
          <p:nvPr/>
        </p:nvSpPr>
        <p:spPr>
          <a:xfrm>
            <a:off x="7315200" y="327812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06" name="Shape 104"/>
          <p:cNvSpPr/>
          <p:nvPr/>
        </p:nvSpPr>
        <p:spPr>
          <a:xfrm>
            <a:off x="7484364" y="327812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07" name="Shape 105"/>
          <p:cNvSpPr/>
          <p:nvPr/>
        </p:nvSpPr>
        <p:spPr>
          <a:xfrm>
            <a:off x="7653528" y="327812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7822692" y="327812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09" name="Shape 107"/>
          <p:cNvSpPr/>
          <p:nvPr/>
        </p:nvSpPr>
        <p:spPr>
          <a:xfrm>
            <a:off x="7991856" y="327812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10" name="Shape 108"/>
          <p:cNvSpPr/>
          <p:nvPr/>
        </p:nvSpPr>
        <p:spPr>
          <a:xfrm>
            <a:off x="8499348" y="327812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11" name="Shape 109"/>
          <p:cNvSpPr/>
          <p:nvPr/>
        </p:nvSpPr>
        <p:spPr>
          <a:xfrm>
            <a:off x="8668512" y="327812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12" name="Shape 110"/>
          <p:cNvSpPr/>
          <p:nvPr/>
        </p:nvSpPr>
        <p:spPr>
          <a:xfrm>
            <a:off x="9006840" y="327812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13" name="Shape 111"/>
          <p:cNvSpPr/>
          <p:nvPr/>
        </p:nvSpPr>
        <p:spPr>
          <a:xfrm>
            <a:off x="9345168" y="327812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514332" y="327812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15" name="Shape 113"/>
          <p:cNvSpPr/>
          <p:nvPr/>
        </p:nvSpPr>
        <p:spPr>
          <a:xfrm>
            <a:off x="9683496" y="3278124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16" name="Shape 114"/>
          <p:cNvSpPr/>
          <p:nvPr/>
        </p:nvSpPr>
        <p:spPr>
          <a:xfrm>
            <a:off x="7315200" y="344728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17" name="Shape 115"/>
          <p:cNvSpPr/>
          <p:nvPr/>
        </p:nvSpPr>
        <p:spPr>
          <a:xfrm>
            <a:off x="7991856" y="344728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18" name="Shape 116"/>
          <p:cNvSpPr/>
          <p:nvPr/>
        </p:nvSpPr>
        <p:spPr>
          <a:xfrm>
            <a:off x="8330184" y="344728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19" name="Shape 117"/>
          <p:cNvSpPr/>
          <p:nvPr/>
        </p:nvSpPr>
        <p:spPr>
          <a:xfrm>
            <a:off x="8668512" y="344728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20" name="Shape 118"/>
          <p:cNvSpPr/>
          <p:nvPr/>
        </p:nvSpPr>
        <p:spPr>
          <a:xfrm>
            <a:off x="8837676" y="344728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21" name="Shape 119"/>
          <p:cNvSpPr/>
          <p:nvPr/>
        </p:nvSpPr>
        <p:spPr>
          <a:xfrm>
            <a:off x="9514332" y="344728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22" name="Shape 120"/>
          <p:cNvSpPr/>
          <p:nvPr/>
        </p:nvSpPr>
        <p:spPr>
          <a:xfrm>
            <a:off x="9852660" y="3447288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23" name="Shape 121"/>
          <p:cNvSpPr/>
          <p:nvPr/>
        </p:nvSpPr>
        <p:spPr>
          <a:xfrm>
            <a:off x="7315200" y="361645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24" name="Shape 122"/>
          <p:cNvSpPr/>
          <p:nvPr/>
        </p:nvSpPr>
        <p:spPr>
          <a:xfrm>
            <a:off x="7653528" y="361645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25" name="Shape 123"/>
          <p:cNvSpPr/>
          <p:nvPr/>
        </p:nvSpPr>
        <p:spPr>
          <a:xfrm>
            <a:off x="7822692" y="361645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26" name="Shape 124"/>
          <p:cNvSpPr/>
          <p:nvPr/>
        </p:nvSpPr>
        <p:spPr>
          <a:xfrm>
            <a:off x="7991856" y="361645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27" name="Shape 125"/>
          <p:cNvSpPr/>
          <p:nvPr/>
        </p:nvSpPr>
        <p:spPr>
          <a:xfrm>
            <a:off x="8330184" y="361645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28" name="Shape 126"/>
          <p:cNvSpPr/>
          <p:nvPr/>
        </p:nvSpPr>
        <p:spPr>
          <a:xfrm>
            <a:off x="8499348" y="361645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29" name="Shape 127"/>
          <p:cNvSpPr/>
          <p:nvPr/>
        </p:nvSpPr>
        <p:spPr>
          <a:xfrm>
            <a:off x="8837676" y="361645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30" name="Shape 128"/>
          <p:cNvSpPr/>
          <p:nvPr/>
        </p:nvSpPr>
        <p:spPr>
          <a:xfrm>
            <a:off x="9006840" y="361645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31" name="Shape 129"/>
          <p:cNvSpPr/>
          <p:nvPr/>
        </p:nvSpPr>
        <p:spPr>
          <a:xfrm>
            <a:off x="9176004" y="361645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32" name="Shape 130"/>
          <p:cNvSpPr/>
          <p:nvPr/>
        </p:nvSpPr>
        <p:spPr>
          <a:xfrm>
            <a:off x="9514332" y="361645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33" name="Shape 131"/>
          <p:cNvSpPr/>
          <p:nvPr/>
        </p:nvSpPr>
        <p:spPr>
          <a:xfrm>
            <a:off x="9683496" y="361645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34" name="Shape 132"/>
          <p:cNvSpPr/>
          <p:nvPr/>
        </p:nvSpPr>
        <p:spPr>
          <a:xfrm>
            <a:off x="9852660" y="3616452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35" name="Shape 133"/>
          <p:cNvSpPr/>
          <p:nvPr/>
        </p:nvSpPr>
        <p:spPr>
          <a:xfrm>
            <a:off x="7315200" y="378561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36" name="Shape 134"/>
          <p:cNvSpPr/>
          <p:nvPr/>
        </p:nvSpPr>
        <p:spPr>
          <a:xfrm>
            <a:off x="7653528" y="378561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37" name="Shape 135"/>
          <p:cNvSpPr/>
          <p:nvPr/>
        </p:nvSpPr>
        <p:spPr>
          <a:xfrm>
            <a:off x="7822692" y="378561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38" name="Shape 136"/>
          <p:cNvSpPr/>
          <p:nvPr/>
        </p:nvSpPr>
        <p:spPr>
          <a:xfrm>
            <a:off x="7991856" y="378561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39" name="Shape 137"/>
          <p:cNvSpPr/>
          <p:nvPr/>
        </p:nvSpPr>
        <p:spPr>
          <a:xfrm>
            <a:off x="8668512" y="378561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40" name="Shape 138"/>
          <p:cNvSpPr/>
          <p:nvPr/>
        </p:nvSpPr>
        <p:spPr>
          <a:xfrm>
            <a:off x="9006840" y="378561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41" name="Shape 139"/>
          <p:cNvSpPr/>
          <p:nvPr/>
        </p:nvSpPr>
        <p:spPr>
          <a:xfrm>
            <a:off x="9345168" y="378561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42" name="Shape 140"/>
          <p:cNvSpPr/>
          <p:nvPr/>
        </p:nvSpPr>
        <p:spPr>
          <a:xfrm>
            <a:off x="9514332" y="378561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43" name="Shape 141"/>
          <p:cNvSpPr/>
          <p:nvPr/>
        </p:nvSpPr>
        <p:spPr>
          <a:xfrm>
            <a:off x="9852660" y="3785616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15200" y="395478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484364" y="395478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653528" y="395478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822692" y="395478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991856" y="395478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49" name="Shape 147"/>
          <p:cNvSpPr/>
          <p:nvPr/>
        </p:nvSpPr>
        <p:spPr>
          <a:xfrm>
            <a:off x="8330184" y="395478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50" name="Shape 148"/>
          <p:cNvSpPr/>
          <p:nvPr/>
        </p:nvSpPr>
        <p:spPr>
          <a:xfrm>
            <a:off x="8499348" y="395478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51" name="Shape 149"/>
          <p:cNvSpPr/>
          <p:nvPr/>
        </p:nvSpPr>
        <p:spPr>
          <a:xfrm>
            <a:off x="8837676" y="395478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52" name="Shape 150"/>
          <p:cNvSpPr/>
          <p:nvPr/>
        </p:nvSpPr>
        <p:spPr>
          <a:xfrm>
            <a:off x="9176004" y="395478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53" name="Shape 151"/>
          <p:cNvSpPr/>
          <p:nvPr/>
        </p:nvSpPr>
        <p:spPr>
          <a:xfrm>
            <a:off x="9345168" y="395478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54" name="Shape 152"/>
          <p:cNvSpPr/>
          <p:nvPr/>
        </p:nvSpPr>
        <p:spPr>
          <a:xfrm>
            <a:off x="9683496" y="3954780"/>
            <a:ext cx="155631" cy="155631"/>
          </a:xfrm>
          <a:prstGeom prst="rect">
            <a:avLst/>
          </a:prstGeom>
          <a:solidFill>
            <a:srgbClr val="0B0F16"/>
          </a:solidFill>
          <a:ln/>
        </p:spPr>
      </p:sp>
      <p:sp>
        <p:nvSpPr>
          <p:cNvPr id="155" name="Text 153"/>
          <p:cNvSpPr/>
          <p:nvPr/>
        </p:nvSpPr>
        <p:spPr>
          <a:xfrm>
            <a:off x="6995160" y="4233672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F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ESCANEA Y AUDITA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ARBITRUM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Construido sobre lo que Arbitrum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pidió que se construyera.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Stylus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0" y="2862072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blog oficial lista el cómputo intensivo en Rust/WASM como oportunidad de construcción. Nuestro motor de score es exactamente eso.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 en Arbitrum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114800" y="3913632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estándar de attestations ya vive en Arbitrum One y Nova — el mismo que usa Coinbase para credenciales en producción.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Scaffold-Stylus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114800" y="4965192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y flujo de contratos sobre el stack del bounty Advanced: Stylus + IA, desplegado en Arbitrum Sepolia.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6035040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0B0F16"/>
          </a:solidFill>
          <a:ln w="9525">
            <a:solidFill>
              <a:srgbClr val="12A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6039612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Arbitrum Sepolia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88920" y="6035040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0B0F16"/>
          </a:solidFill>
          <a:ln w="9525">
            <a:solidFill>
              <a:srgbClr val="12A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6039612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Scaffold-Stylus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6035040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0B0F16"/>
          </a:solidFill>
          <a:ln w="9525">
            <a:solidFill>
              <a:srgbClr val="F0B4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603961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Bounty Advanced: Stylus + IA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frentes, el mismo motor.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074920" cy="2286000"/>
          </a:xfrm>
          <a:prstGeom prst="roundRect">
            <a:avLst>
              <a:gd name="adj" fmla="val 4000"/>
            </a:avLst>
          </a:prstGeom>
          <a:solidFill>
            <a:srgbClr val="121A26"/>
          </a:solidFill>
          <a:ln w="9525">
            <a:solidFill>
              <a:srgbClr val="2230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29260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352044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 cada 3 peruanos que ahorran lo hacen informalmente. Juntas sin custodio de confianza, puntualidad que hoy no vale nada.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5074920" cy="2286000"/>
          </a:xfrm>
          <a:prstGeom prst="roundRect">
            <a:avLst>
              <a:gd name="adj" fmla="val 4000"/>
            </a:avLst>
          </a:prstGeom>
          <a:solidFill>
            <a:srgbClr val="121A26"/>
          </a:solidFill>
          <a:ln w="9525">
            <a:solidFill>
              <a:srgbClr val="2230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29400" y="29260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Instituciones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29400" y="352044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Coopacs y fintechs que adopten el estándar de solvencia verificable y consuman el score como attestation.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51663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vendemos una app. Construimos la </a:t>
            </a:r>
            <a:pPr indent="0" marL="0">
              <a:buNone/>
            </a:pPr>
            <a:r>
              <a:rPr lang="en-US" sz="1750" b="1" dirty="0">
                <a:solidFill>
                  <a:srgbClr val="0B0F16"/>
                </a:solidFill>
                <a:highlight>
                  <a:srgbClr val="F0B42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infraestructura</a:t>
            </a:r>
            <a:pPr indent="0" marL="0">
              <a:buNone/>
            </a:pPr>
            <a:r>
              <a:rPr lang="en-US" sz="175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confianza financiera informal.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IMPACTO POTENCIAL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números que queremos cambiar.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211,000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822960" y="32278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familias atrapadas en el crédito gota a gota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09360" y="23317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1,400%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6309360" y="32278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interés anual que llega a cobrar el prestamista informal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4700" dirty="0"/>
          </a:p>
        </p:txBody>
      </p:sp>
      <p:sp>
        <p:nvSpPr>
          <p:cNvPr id="9" name="Text 7"/>
          <p:cNvSpPr/>
          <p:nvPr/>
        </p:nvSpPr>
        <p:spPr>
          <a:xfrm>
            <a:off x="822960" y="49194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coopacs disueltas por la SBS en un solo año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9360" y="40233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 1,780M</a:t>
            </a:r>
            <a:endParaRPr lang="en-US" sz="4700" dirty="0"/>
          </a:p>
        </p:txBody>
      </p:sp>
      <p:sp>
        <p:nvSpPr>
          <p:cNvPr id="11" name="Text 9"/>
          <p:cNvSpPr/>
          <p:nvPr/>
        </p:nvSpPr>
        <p:spPr>
          <a:xfrm>
            <a:off x="6309360" y="49194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mueve el crédito informal, +78% en un año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puntualidad de millones, por fin construyendo futuro.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 DEL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hackathon a estándar.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C98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en Arbitrum Sepolia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 con custodia real, score computándose en Stylus, attestations EAS y pool de microcrédito. Demo Day: 8 de agosto.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48056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C98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80560" y="28803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Segunda cancha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80560" y="370332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Aleph Hackathon Lima (22–23 ago, Arbitrum sponsor) con el feedback del jurado ya incorporado.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3816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C98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LUEGO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38160" y="28803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38160" y="370332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para coopacs y fintechs, privacidad con ZK y aplicación al grant Trailblazer de Arbitrum.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QUIÉNES CONSTRUYEN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personas, un estándar.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2468880" cy="1234440"/>
          </a:xfrm>
          <a:prstGeom prst="roundRect">
            <a:avLst>
              <a:gd name="adj" fmla="val 6667"/>
            </a:avLst>
          </a:prstGeom>
          <a:solidFill>
            <a:srgbClr val="121A26"/>
          </a:solidFill>
          <a:ln w="9525">
            <a:solidFill>
              <a:srgbClr val="2230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2377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Ely Rivaldo Cortez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24128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8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 · pitch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20440" y="2148840"/>
            <a:ext cx="2468880" cy="1234440"/>
          </a:xfrm>
          <a:prstGeom prst="roundRect">
            <a:avLst>
              <a:gd name="adj" fmla="val 6667"/>
            </a:avLst>
          </a:prstGeom>
          <a:solidFill>
            <a:srgbClr val="121A26"/>
          </a:solidFill>
          <a:ln w="9525">
            <a:solidFill>
              <a:srgbClr val="2230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21608" y="2377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 Cisneros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21608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8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 contracts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2468880" cy="1234440"/>
          </a:xfrm>
          <a:prstGeom prst="roundRect">
            <a:avLst>
              <a:gd name="adj" fmla="val 6667"/>
            </a:avLst>
          </a:prstGeom>
          <a:solidFill>
            <a:srgbClr val="121A26"/>
          </a:solidFill>
          <a:ln w="9525">
            <a:solidFill>
              <a:srgbClr val="2230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2377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Mariana Chambi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19088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8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 · datos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2148840"/>
            <a:ext cx="2468880" cy="1234440"/>
          </a:xfrm>
          <a:prstGeom prst="roundRect">
            <a:avLst>
              <a:gd name="adj" fmla="val 6667"/>
            </a:avLst>
          </a:prstGeom>
          <a:solidFill>
            <a:srgbClr val="121A26"/>
          </a:solidFill>
          <a:ln w="9525">
            <a:solidFill>
              <a:srgbClr val="2230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16568" y="2377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Mamani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16568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8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· UX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42062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nadie pierda sus ahorros por </a:t>
            </a:r>
            <a:pPr indent="0" marL="0">
              <a:buNone/>
            </a:pPr>
            <a:r>
              <a:rPr lang="en-US" sz="3200" b="1" dirty="0">
                <a:solidFill>
                  <a:srgbClr val="0B0F16"/>
                </a:solidFill>
                <a:highlight>
                  <a:srgbClr val="F0B42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confiar</a:t>
            </a:r>
            <a:pPr indent="0" marL="0">
              <a:buNone/>
            </a:pPr>
            <a:r>
              <a:rPr lang="en-US" sz="32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22960" y="4983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Kallpa, no hace falta confiar. Se verifica.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528848" y="6017552"/>
            <a:ext cx="47777" cy="47777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51698" y="6068438"/>
            <a:ext cx="47777" cy="47777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0" name="Shape 18"/>
          <p:cNvSpPr/>
          <p:nvPr/>
        </p:nvSpPr>
        <p:spPr>
          <a:xfrm>
            <a:off x="9702584" y="6191288"/>
            <a:ext cx="47777" cy="47777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1" name="Shape 19"/>
          <p:cNvSpPr/>
          <p:nvPr/>
        </p:nvSpPr>
        <p:spPr>
          <a:xfrm>
            <a:off x="9651698" y="6314138"/>
            <a:ext cx="47777" cy="47777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2" name="Shape 20"/>
          <p:cNvSpPr/>
          <p:nvPr/>
        </p:nvSpPr>
        <p:spPr>
          <a:xfrm>
            <a:off x="9528848" y="6365024"/>
            <a:ext cx="47777" cy="47777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3" name="Shape 21"/>
          <p:cNvSpPr/>
          <p:nvPr/>
        </p:nvSpPr>
        <p:spPr>
          <a:xfrm>
            <a:off x="9405998" y="6314138"/>
            <a:ext cx="47777" cy="47777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4" name="Shape 22"/>
          <p:cNvSpPr/>
          <p:nvPr/>
        </p:nvSpPr>
        <p:spPr>
          <a:xfrm>
            <a:off x="9355112" y="6191288"/>
            <a:ext cx="47777" cy="47777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5" name="Shape 23"/>
          <p:cNvSpPr/>
          <p:nvPr/>
        </p:nvSpPr>
        <p:spPr>
          <a:xfrm>
            <a:off x="9405998" y="6068438"/>
            <a:ext cx="47777" cy="47777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6" name="Shape 24"/>
          <p:cNvSpPr/>
          <p:nvPr/>
        </p:nvSpPr>
        <p:spPr>
          <a:xfrm rot="2700000">
            <a:off x="9498879" y="6161319"/>
            <a:ext cx="107716" cy="107716"/>
          </a:xfrm>
          <a:prstGeom prst="rect">
            <a:avLst/>
          </a:prstGeom>
          <a:solidFill>
            <a:srgbClr val="F0B429"/>
          </a:solidFill>
          <a:ln w="15875">
            <a:solidFill>
              <a:srgbClr val="F0B42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30714" y="5989320"/>
            <a:ext cx="2084832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300" kern="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KALLPA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2026-08-02T09:47:05Z</dcterms:created>
  <dcterms:modified xsi:type="dcterms:W3CDTF">2026-08-02T09:47:05Z</dcterms:modified>
</cp:coreProperties>
</file>